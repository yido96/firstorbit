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36976" y="791927"/>
            <a:ext cx="38468" cy="38468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3" name="Shape 1"/>
          <p:cNvSpPr/>
          <p:nvPr/>
        </p:nvSpPr>
        <p:spPr>
          <a:xfrm>
            <a:off x="6173666" y="538750"/>
            <a:ext cx="36525" cy="36525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4" name="Shape 2"/>
          <p:cNvSpPr/>
          <p:nvPr/>
        </p:nvSpPr>
        <p:spPr>
          <a:xfrm>
            <a:off x="5008640" y="1950685"/>
            <a:ext cx="42541" cy="42541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5" name="Shape 3"/>
          <p:cNvSpPr/>
          <p:nvPr/>
        </p:nvSpPr>
        <p:spPr>
          <a:xfrm>
            <a:off x="933662" y="3419063"/>
            <a:ext cx="45340" cy="45340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6" name="Shape 4"/>
          <p:cNvSpPr/>
          <p:nvPr/>
        </p:nvSpPr>
        <p:spPr>
          <a:xfrm>
            <a:off x="1926014" y="3843220"/>
            <a:ext cx="45938" cy="45938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7" name="Shape 5"/>
          <p:cNvSpPr/>
          <p:nvPr/>
        </p:nvSpPr>
        <p:spPr>
          <a:xfrm>
            <a:off x="610473" y="6440488"/>
            <a:ext cx="25538" cy="25538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8" name="Shape 6"/>
          <p:cNvSpPr/>
          <p:nvPr/>
        </p:nvSpPr>
        <p:spPr>
          <a:xfrm>
            <a:off x="5415866" y="6554200"/>
            <a:ext cx="23257" cy="23257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9" name="Shape 7"/>
          <p:cNvSpPr/>
          <p:nvPr/>
        </p:nvSpPr>
        <p:spPr>
          <a:xfrm>
            <a:off x="6709247" y="4607689"/>
            <a:ext cx="35539" cy="35539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10" name="Shape 8"/>
          <p:cNvSpPr/>
          <p:nvPr/>
        </p:nvSpPr>
        <p:spPr>
          <a:xfrm>
            <a:off x="12016356" y="3056290"/>
            <a:ext cx="25299" cy="25299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11" name="Shape 9"/>
          <p:cNvSpPr/>
          <p:nvPr/>
        </p:nvSpPr>
        <p:spPr>
          <a:xfrm>
            <a:off x="4027994" y="1053336"/>
            <a:ext cx="40798" cy="40798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12" name="Shape 10"/>
          <p:cNvSpPr/>
          <p:nvPr/>
        </p:nvSpPr>
        <p:spPr>
          <a:xfrm>
            <a:off x="4267773" y="546159"/>
            <a:ext cx="32760" cy="32760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78999" y="3228093"/>
            <a:ext cx="28108" cy="28108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7844" y="5204472"/>
            <a:ext cx="43099" cy="43099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15" name="Shape 13"/>
          <p:cNvSpPr/>
          <p:nvPr/>
        </p:nvSpPr>
        <p:spPr>
          <a:xfrm>
            <a:off x="2729386" y="3088628"/>
            <a:ext cx="23884" cy="23884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6200" y="4669896"/>
            <a:ext cx="20249" cy="20249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17" name="Shape 15"/>
          <p:cNvSpPr/>
          <p:nvPr/>
        </p:nvSpPr>
        <p:spPr>
          <a:xfrm>
            <a:off x="3961517" y="3005608"/>
            <a:ext cx="57592" cy="57592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21886" y="3091098"/>
            <a:ext cx="36345" cy="36345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19" name="Shape 17"/>
          <p:cNvSpPr/>
          <p:nvPr/>
        </p:nvSpPr>
        <p:spPr>
          <a:xfrm>
            <a:off x="2885755" y="5095699"/>
            <a:ext cx="29154" cy="29154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20" name="Shape 18"/>
          <p:cNvSpPr/>
          <p:nvPr/>
        </p:nvSpPr>
        <p:spPr>
          <a:xfrm>
            <a:off x="9346810" y="5886744"/>
            <a:ext cx="29412" cy="29412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89676" y="5125567"/>
            <a:ext cx="56426" cy="56426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22" name="Shape 20"/>
          <p:cNvSpPr/>
          <p:nvPr/>
        </p:nvSpPr>
        <p:spPr>
          <a:xfrm>
            <a:off x="293765" y="2219501"/>
            <a:ext cx="41106" cy="41106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23" name="Shape 21"/>
          <p:cNvSpPr/>
          <p:nvPr/>
        </p:nvSpPr>
        <p:spPr>
          <a:xfrm>
            <a:off x="4798128" y="4703880"/>
            <a:ext cx="27141" cy="27141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24" name="Shape 22"/>
          <p:cNvSpPr/>
          <p:nvPr/>
        </p:nvSpPr>
        <p:spPr>
          <a:xfrm>
            <a:off x="11660556" y="48037"/>
            <a:ext cx="29263" cy="29263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25" name="Shape 23"/>
          <p:cNvSpPr/>
          <p:nvPr/>
        </p:nvSpPr>
        <p:spPr>
          <a:xfrm>
            <a:off x="5378028" y="613304"/>
            <a:ext cx="42391" cy="42391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34965" y="4029016"/>
            <a:ext cx="37062" cy="37062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27" name="Shape 25"/>
          <p:cNvSpPr/>
          <p:nvPr/>
        </p:nvSpPr>
        <p:spPr>
          <a:xfrm>
            <a:off x="9670625" y="6146506"/>
            <a:ext cx="23436" cy="23436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882950" y="4849107"/>
            <a:ext cx="19292" cy="19292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0601726" y="1576152"/>
            <a:ext cx="45459" cy="45459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30" name="Shape 28"/>
          <p:cNvSpPr/>
          <p:nvPr/>
        </p:nvSpPr>
        <p:spPr>
          <a:xfrm>
            <a:off x="455987" y="560975"/>
            <a:ext cx="25229" cy="25229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28023" y="5782910"/>
            <a:ext cx="40389" cy="40389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32" name="Shape 30"/>
          <p:cNvSpPr/>
          <p:nvPr/>
        </p:nvSpPr>
        <p:spPr>
          <a:xfrm>
            <a:off x="634514" y="1917288"/>
            <a:ext cx="38616" cy="38616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33" name="Shape 31"/>
          <p:cNvSpPr/>
          <p:nvPr/>
        </p:nvSpPr>
        <p:spPr>
          <a:xfrm>
            <a:off x="4336132" y="1579445"/>
            <a:ext cx="20925" cy="20925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665958" y="1128713"/>
            <a:ext cx="50818" cy="50818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052819" y="2766425"/>
            <a:ext cx="43965" cy="43965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36" name="Shape 34"/>
          <p:cNvSpPr/>
          <p:nvPr/>
        </p:nvSpPr>
        <p:spPr>
          <a:xfrm>
            <a:off x="5055467" y="57914"/>
            <a:ext cx="37958" cy="37958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37" name="Shape 35"/>
          <p:cNvSpPr/>
          <p:nvPr/>
        </p:nvSpPr>
        <p:spPr>
          <a:xfrm>
            <a:off x="9007942" y="2316515"/>
            <a:ext cx="36862" cy="36862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38" name="Shape 36"/>
          <p:cNvSpPr/>
          <p:nvPr/>
        </p:nvSpPr>
        <p:spPr>
          <a:xfrm>
            <a:off x="7792745" y="1837561"/>
            <a:ext cx="47789" cy="47789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0741789" y="568384"/>
            <a:ext cx="21463" cy="21463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40" name="Shape 38"/>
          <p:cNvSpPr/>
          <p:nvPr/>
        </p:nvSpPr>
        <p:spPr>
          <a:xfrm>
            <a:off x="3706687" y="202318"/>
            <a:ext cx="25955" cy="25955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41" name="Shape 39"/>
          <p:cNvSpPr/>
          <p:nvPr/>
        </p:nvSpPr>
        <p:spPr>
          <a:xfrm>
            <a:off x="4598696" y="3702697"/>
            <a:ext cx="36374" cy="36374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42" name="Shape 40"/>
          <p:cNvSpPr/>
          <p:nvPr/>
        </p:nvSpPr>
        <p:spPr>
          <a:xfrm>
            <a:off x="5139504" y="824853"/>
            <a:ext cx="40020" cy="40020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43" name="Shape 41"/>
          <p:cNvSpPr/>
          <p:nvPr/>
        </p:nvSpPr>
        <p:spPr>
          <a:xfrm>
            <a:off x="6081685" y="6216121"/>
            <a:ext cx="45528" cy="45528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44" name="Shape 42"/>
          <p:cNvSpPr/>
          <p:nvPr/>
        </p:nvSpPr>
        <p:spPr>
          <a:xfrm>
            <a:off x="11790166" y="6075833"/>
            <a:ext cx="37151" cy="37151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45" name="Shape 43"/>
          <p:cNvSpPr/>
          <p:nvPr/>
        </p:nvSpPr>
        <p:spPr>
          <a:xfrm>
            <a:off x="8568105" y="5399323"/>
            <a:ext cx="38765" cy="38765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46" name="Shape 44"/>
          <p:cNvSpPr/>
          <p:nvPr/>
        </p:nvSpPr>
        <p:spPr>
          <a:xfrm>
            <a:off x="12069036" y="4355924"/>
            <a:ext cx="40717" cy="40717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47" name="Shape 45"/>
          <p:cNvSpPr/>
          <p:nvPr/>
        </p:nvSpPr>
        <p:spPr>
          <a:xfrm>
            <a:off x="919865" y="6670969"/>
            <a:ext cx="36404" cy="36404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48" name="Shape 46"/>
          <p:cNvSpPr/>
          <p:nvPr/>
        </p:nvSpPr>
        <p:spPr>
          <a:xfrm>
            <a:off x="4771997" y="5147792"/>
            <a:ext cx="45129" cy="45129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49" name="Shape 47"/>
          <p:cNvSpPr/>
          <p:nvPr/>
        </p:nvSpPr>
        <p:spPr>
          <a:xfrm>
            <a:off x="5413148" y="6051726"/>
            <a:ext cx="38954" cy="38954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50" name="Shape 48"/>
          <p:cNvSpPr/>
          <p:nvPr/>
        </p:nvSpPr>
        <p:spPr>
          <a:xfrm>
            <a:off x="4498980" y="3202105"/>
            <a:ext cx="20417" cy="20417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51" name="Shape 49"/>
          <p:cNvSpPr/>
          <p:nvPr/>
        </p:nvSpPr>
        <p:spPr>
          <a:xfrm>
            <a:off x="1878978" y="4642262"/>
            <a:ext cx="45398" cy="45398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52" name="Shape 50"/>
          <p:cNvSpPr/>
          <p:nvPr/>
        </p:nvSpPr>
        <p:spPr>
          <a:xfrm>
            <a:off x="6433513" y="2159529"/>
            <a:ext cx="26523" cy="26523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53" name="Shape 51"/>
          <p:cNvSpPr/>
          <p:nvPr/>
        </p:nvSpPr>
        <p:spPr>
          <a:xfrm>
            <a:off x="6271919" y="241241"/>
            <a:ext cx="57769" cy="57769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54" name="Shape 52"/>
          <p:cNvSpPr/>
          <p:nvPr/>
        </p:nvSpPr>
        <p:spPr>
          <a:xfrm>
            <a:off x="8016844" y="1596731"/>
            <a:ext cx="25855" cy="25855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55" name="Shape 53"/>
          <p:cNvSpPr/>
          <p:nvPr/>
        </p:nvSpPr>
        <p:spPr>
          <a:xfrm>
            <a:off x="11066232" y="4109332"/>
            <a:ext cx="30855" cy="30855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174781" y="2360377"/>
            <a:ext cx="52450" cy="52450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57" name="Shape 55"/>
          <p:cNvSpPr/>
          <p:nvPr/>
        </p:nvSpPr>
        <p:spPr>
          <a:xfrm>
            <a:off x="6930002" y="583200"/>
            <a:ext cx="55080" cy="55080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58" name="Shape 56"/>
          <p:cNvSpPr/>
          <p:nvPr/>
        </p:nvSpPr>
        <p:spPr>
          <a:xfrm>
            <a:off x="3055711" y="2757135"/>
            <a:ext cx="38236" cy="38236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59" name="Shape 57"/>
          <p:cNvSpPr/>
          <p:nvPr/>
        </p:nvSpPr>
        <p:spPr>
          <a:xfrm>
            <a:off x="335366" y="415513"/>
            <a:ext cx="31891" cy="31891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60" name="Shape 58"/>
          <p:cNvSpPr/>
          <p:nvPr/>
        </p:nvSpPr>
        <p:spPr>
          <a:xfrm>
            <a:off x="6746249" y="6173670"/>
            <a:ext cx="37061" cy="37061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721443" y="2674938"/>
            <a:ext cx="34949" cy="34949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62" name="Shape 60"/>
          <p:cNvSpPr/>
          <p:nvPr/>
        </p:nvSpPr>
        <p:spPr>
          <a:xfrm>
            <a:off x="8881468" y="5836650"/>
            <a:ext cx="23524" cy="23524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401686" y="2366139"/>
            <a:ext cx="40378" cy="40378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64" name="Shape 62"/>
          <p:cNvSpPr/>
          <p:nvPr/>
        </p:nvSpPr>
        <p:spPr>
          <a:xfrm>
            <a:off x="5999529" y="1576740"/>
            <a:ext cx="48426" cy="48426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65" name="Shape 63"/>
          <p:cNvSpPr/>
          <p:nvPr/>
        </p:nvSpPr>
        <p:spPr>
          <a:xfrm>
            <a:off x="11557495" y="2621786"/>
            <a:ext cx="54781" cy="54781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66" name="Shape 64"/>
          <p:cNvSpPr/>
          <p:nvPr/>
        </p:nvSpPr>
        <p:spPr>
          <a:xfrm>
            <a:off x="5024109" y="590609"/>
            <a:ext cx="51314" cy="51314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67" name="Shape 65"/>
          <p:cNvSpPr/>
          <p:nvPr/>
        </p:nvSpPr>
        <p:spPr>
          <a:xfrm>
            <a:off x="8826070" y="4034543"/>
            <a:ext cx="23803" cy="23803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68" name="Shape 66"/>
          <p:cNvSpPr/>
          <p:nvPr/>
        </p:nvSpPr>
        <p:spPr>
          <a:xfrm>
            <a:off x="4299548" y="2200922"/>
            <a:ext cx="29650" cy="29650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69" name="Shape 67"/>
          <p:cNvSpPr/>
          <p:nvPr/>
        </p:nvSpPr>
        <p:spPr>
          <a:xfrm>
            <a:off x="7549622" y="5419078"/>
            <a:ext cx="56155" cy="56155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70" name="Shape 68"/>
          <p:cNvSpPr/>
          <p:nvPr/>
        </p:nvSpPr>
        <p:spPr>
          <a:xfrm>
            <a:off x="7137169" y="904346"/>
            <a:ext cx="29659" cy="29659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71" name="Shape 69"/>
          <p:cNvSpPr/>
          <p:nvPr/>
        </p:nvSpPr>
        <p:spPr>
          <a:xfrm>
            <a:off x="7427119" y="2288058"/>
            <a:ext cx="57858" cy="57858"/>
          </a:xfrm>
          <a:prstGeom prst="ellipse">
            <a:avLst/>
          </a:prstGeom>
          <a:solidFill>
            <a:srgbClr val="3A4480"/>
          </a:solidFill>
          <a:ln/>
        </p:spPr>
      </p:sp>
      <p:sp>
        <p:nvSpPr>
          <p:cNvPr id="72" name="Shape 70"/>
          <p:cNvSpPr/>
          <p:nvPr/>
        </p:nvSpPr>
        <p:spPr>
          <a:xfrm>
            <a:off x="8321040" y="548640"/>
            <a:ext cx="2926080" cy="2926080"/>
          </a:xfrm>
          <a:prstGeom prst="ellipse">
            <a:avLst/>
          </a:prstGeom>
          <a:solidFill>
            <a:srgbClr val="FF9E3D">
              <a:alpha val="82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686800" y="914400"/>
            <a:ext cx="2194560" cy="2194560"/>
          </a:xfrm>
          <a:prstGeom prst="ellipse">
            <a:avLst/>
          </a:prstGeom>
          <a:solidFill>
            <a:srgbClr val="FF9E3D">
              <a:alpha val="7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052560" y="1280160"/>
            <a:ext cx="1463040" cy="1463040"/>
          </a:xfrm>
          <a:prstGeom prst="ellipse">
            <a:avLst/>
          </a:prstGeom>
          <a:solidFill>
            <a:srgbClr val="FF9E3D">
              <a:alpha val="45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349740" y="1577340"/>
            <a:ext cx="868680" cy="868680"/>
          </a:xfrm>
          <a:prstGeom prst="ellipse">
            <a:avLst/>
          </a:prstGeom>
          <a:solidFill>
            <a:srgbClr val="FFC078">
              <a:alpha val="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5669280" y="914400"/>
            <a:ext cx="6035040" cy="2834640"/>
          </a:xfrm>
          <a:prstGeom prst="ellipse">
            <a:avLst/>
          </a:prstGeom>
          <a:ln w="15875">
            <a:solidFill>
              <a:srgbClr val="6FC3E8">
                <a:alpha val="65000"/>
              </a:srgbClr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5989320" y="2788920"/>
            <a:ext cx="201168" cy="201168"/>
          </a:xfrm>
          <a:prstGeom prst="ellipse">
            <a:avLst/>
          </a:prstGeom>
          <a:solidFill>
            <a:srgbClr val="6FC3E8"/>
          </a:solidFill>
          <a:ln/>
        </p:spPr>
      </p:sp>
      <p:sp>
        <p:nvSpPr>
          <p:cNvPr id="78" name="Text 76"/>
          <p:cNvSpPr/>
          <p:nvPr/>
        </p:nvSpPr>
        <p:spPr>
          <a:xfrm>
            <a:off x="64008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F9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ORBIT</a:t>
            </a:r>
            <a:endParaRPr lang="en-US" sz="1500" dirty="0"/>
          </a:p>
        </p:txBody>
      </p:sp>
      <p:sp>
        <p:nvSpPr>
          <p:cNvPr id="79" name="Text 77"/>
          <p:cNvSpPr/>
          <p:nvPr/>
        </p:nvSpPr>
        <p:spPr>
          <a:xfrm>
            <a:off x="566928" y="2423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아키텍처 &amp; 물리 엔진</a:t>
            </a:r>
            <a:endParaRPr lang="en-US" sz="5200" dirty="0"/>
          </a:p>
        </p:txBody>
      </p:sp>
      <p:sp>
        <p:nvSpPr>
          <p:cNvPr id="80" name="Text 78"/>
          <p:cNvSpPr/>
          <p:nvPr/>
        </p:nvSpPr>
        <p:spPr>
          <a:xfrm>
            <a:off x="603504" y="39776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엔진·게임·물리 라이브러리 없이 C++20으로 직접 구현한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궤도역학 시뮬레이션의 내부 동작</a:t>
            </a:r>
            <a:endParaRPr lang="en-US" sz="1700" dirty="0"/>
          </a:p>
        </p:txBody>
      </p:sp>
      <p:sp>
        <p:nvSpPr>
          <p:cNvPr id="81" name="Shape 79"/>
          <p:cNvSpPr/>
          <p:nvPr/>
        </p:nvSpPr>
        <p:spPr>
          <a:xfrm>
            <a:off x="603504" y="598932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1E2652"/>
          </a:solidFill>
          <a:ln w="12700">
            <a:solidFill>
              <a:srgbClr val="6FC3E8">
                <a:alpha val="6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03504" y="5989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우주 빛</a:t>
            </a:r>
            <a:endParaRPr lang="en-US" sz="1250" dirty="0"/>
          </a:p>
        </p:txBody>
      </p:sp>
      <p:sp>
        <p:nvSpPr>
          <p:cNvPr id="83" name="Shape 81"/>
          <p:cNvSpPr/>
          <p:nvPr/>
        </p:nvSpPr>
        <p:spPr>
          <a:xfrm>
            <a:off x="1901952" y="5989320"/>
            <a:ext cx="1517904" cy="457200"/>
          </a:xfrm>
          <a:prstGeom prst="roundRect">
            <a:avLst>
              <a:gd name="adj" fmla="val 50000"/>
            </a:avLst>
          </a:prstGeom>
          <a:solidFill>
            <a:srgbClr val="1E2652"/>
          </a:solidFill>
          <a:ln w="12700">
            <a:solidFill>
              <a:srgbClr val="6FC3E8">
                <a:alpha val="6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901952" y="59893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우주선 불꽃</a:t>
            </a:r>
            <a:endParaRPr lang="en-US" sz="1250" dirty="0"/>
          </a:p>
        </p:txBody>
      </p:sp>
      <p:sp>
        <p:nvSpPr>
          <p:cNvPr id="85" name="Shape 83"/>
          <p:cNvSpPr/>
          <p:nvPr/>
        </p:nvSpPr>
        <p:spPr>
          <a:xfrm>
            <a:off x="3621024" y="5989320"/>
            <a:ext cx="1517904" cy="457200"/>
          </a:xfrm>
          <a:prstGeom prst="roundRect">
            <a:avLst>
              <a:gd name="adj" fmla="val 50000"/>
            </a:avLst>
          </a:prstGeom>
          <a:solidFill>
            <a:srgbClr val="1E2652"/>
          </a:solidFill>
          <a:ln w="12700">
            <a:solidFill>
              <a:srgbClr val="6FC3E8">
                <a:alpha val="60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621024" y="59893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케플러 궤도</a:t>
            </a:r>
            <a:endParaRPr lang="en-US" sz="1250" dirty="0"/>
          </a:p>
        </p:txBody>
      </p:sp>
      <p:sp>
        <p:nvSpPr>
          <p:cNvPr id="87" name="Shape 85"/>
          <p:cNvSpPr/>
          <p:nvPr/>
        </p:nvSpPr>
        <p:spPr>
          <a:xfrm>
            <a:off x="5340096" y="5989320"/>
            <a:ext cx="1517904" cy="457200"/>
          </a:xfrm>
          <a:prstGeom prst="roundRect">
            <a:avLst>
              <a:gd name="adj" fmla="val 50000"/>
            </a:avLst>
          </a:prstGeom>
          <a:solidFill>
            <a:srgbClr val="1E2652"/>
          </a:solidFill>
          <a:ln w="12700">
            <a:solidFill>
              <a:srgbClr val="6FC3E8">
                <a:alpha val="6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340096" y="59893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판정</a:t>
            </a:r>
            <a:endParaRPr lang="en-US" sz="1250" dirty="0"/>
          </a:p>
        </p:txBody>
      </p:sp>
      <p:sp>
        <p:nvSpPr>
          <p:cNvPr id="89" name="Shape 87"/>
          <p:cNvSpPr/>
          <p:nvPr/>
        </p:nvSpPr>
        <p:spPr>
          <a:xfrm>
            <a:off x="7059168" y="5989320"/>
            <a:ext cx="1307592" cy="457200"/>
          </a:xfrm>
          <a:prstGeom prst="roundRect">
            <a:avLst>
              <a:gd name="adj" fmla="val 50000"/>
            </a:avLst>
          </a:prstGeom>
          <a:solidFill>
            <a:srgbClr val="1E2652"/>
          </a:solidFill>
          <a:ln w="12700">
            <a:solidFill>
              <a:srgbClr val="6FC3E8">
                <a:alpha val="60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059168" y="5989320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호만 전이</a:t>
            </a:r>
            <a:endParaRPr lang="en-US" sz="1250" dirty="0"/>
          </a:p>
        </p:txBody>
      </p:sp>
      <p:sp>
        <p:nvSpPr>
          <p:cNvPr id="91" name="Shape 89"/>
          <p:cNvSpPr/>
          <p:nvPr/>
        </p:nvSpPr>
        <p:spPr>
          <a:xfrm>
            <a:off x="8567928" y="598932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1E2652"/>
          </a:solidFill>
          <a:ln w="12700">
            <a:solidFill>
              <a:srgbClr val="6FC3E8">
                <a:alpha val="60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567928" y="5989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람베르트</a:t>
            </a:r>
            <a:endParaRPr lang="en-US" sz="1250" dirty="0"/>
          </a:p>
        </p:txBody>
      </p:sp>
      <p:sp>
        <p:nvSpPr>
          <p:cNvPr id="93" name="Shape 91"/>
          <p:cNvSpPr/>
          <p:nvPr/>
        </p:nvSpPr>
        <p:spPr>
          <a:xfrm>
            <a:off x="9866376" y="5989320"/>
            <a:ext cx="886968" cy="457200"/>
          </a:xfrm>
          <a:prstGeom prst="roundRect">
            <a:avLst>
              <a:gd name="adj" fmla="val 50000"/>
            </a:avLst>
          </a:prstGeom>
          <a:solidFill>
            <a:srgbClr val="1E2652"/>
          </a:solidFill>
          <a:ln w="12700">
            <a:solidFill>
              <a:srgbClr val="6FC3E8">
                <a:alpha val="6000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866376" y="5989320"/>
            <a:ext cx="886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블랙홀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이 발표가 다루는 6가지 핵심 기술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텍스처·물리엔진 없이 픽셀과 수식만으로 만든 우주 — 표현과 물리 양쪽의 대표 구현을 짚는다.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39312" cy="2084832"/>
          </a:xfrm>
          <a:prstGeom prst="roundRect">
            <a:avLst>
              <a:gd name="adj" fmla="val 4825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40280"/>
            <a:ext cx="566928" cy="566928"/>
          </a:xfrm>
          <a:prstGeom prst="ellipse">
            <a:avLst/>
          </a:prstGeom>
          <a:solidFill>
            <a:srgbClr val="FF9E3D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21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276856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우주 빛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3090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버퍼 · 프리멀티플라이 알파 글로우로 태양광을 그린다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06824" y="1965960"/>
            <a:ext cx="3639312" cy="2084832"/>
          </a:xfrm>
          <a:prstGeom prst="roundRect">
            <a:avLst>
              <a:gd name="adj" fmla="val 4825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2856" y="2240280"/>
            <a:ext cx="566928" cy="566928"/>
          </a:xfrm>
          <a:prstGeom prst="ellipse">
            <a:avLst/>
          </a:prstGeom>
          <a:solidFill>
            <a:srgbClr val="FF9E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62856" y="2221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266944" y="2276856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우주선 불꽃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81144" y="3017520"/>
            <a:ext cx="3090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파티클 구조체로 화염과 연기를 파라미터만 바꿔 표현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65008" y="1965960"/>
            <a:ext cx="3639312" cy="2084832"/>
          </a:xfrm>
          <a:prstGeom prst="roundRect">
            <a:avLst>
              <a:gd name="adj" fmla="val 4825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240280"/>
            <a:ext cx="566928" cy="566928"/>
          </a:xfrm>
          <a:prstGeom prst="ellipse">
            <a:avLst/>
          </a:prstGeom>
          <a:solidFill>
            <a:srgbClr val="6FC3E8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221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025128" y="2276856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케플러 궤도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39328" y="3017520"/>
            <a:ext cx="3090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적분 대신 폐형해 — 원궤도에서 진짜 타원 궤도로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197096"/>
            <a:ext cx="3639312" cy="2084832"/>
          </a:xfrm>
          <a:prstGeom prst="roundRect">
            <a:avLst>
              <a:gd name="adj" fmla="val 4825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471416"/>
            <a:ext cx="566928" cy="566928"/>
          </a:xfrm>
          <a:prstGeom prst="ellipse">
            <a:avLst/>
          </a:prstGeom>
          <a:solidFill>
            <a:srgbClr val="6FC3E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453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450799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SOI 판정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22960" y="5248656"/>
            <a:ext cx="3090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영향권 반지름 + 히스테리시스로 중력원 자동 전환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306824" y="4197096"/>
            <a:ext cx="3639312" cy="2084832"/>
          </a:xfrm>
          <a:prstGeom prst="roundRect">
            <a:avLst>
              <a:gd name="adj" fmla="val 4825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62856" y="4471416"/>
            <a:ext cx="566928" cy="566928"/>
          </a:xfrm>
          <a:prstGeom prst="ellipse">
            <a:avLst/>
          </a:prstGeom>
          <a:solidFill>
            <a:srgbClr val="7ED9A6"/>
          </a:solidFill>
          <a:ln/>
        </p:spPr>
      </p:sp>
      <p:sp>
        <p:nvSpPr>
          <p:cNvPr id="27" name="Text 25"/>
          <p:cNvSpPr/>
          <p:nvPr/>
        </p:nvSpPr>
        <p:spPr>
          <a:xfrm>
            <a:off x="4562856" y="4453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266944" y="450799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호만·람베르트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4581144" y="5248656"/>
            <a:ext cx="3090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위상이 어긋난 임의 시점에서 최소 연료 전이 계산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065008" y="4197096"/>
            <a:ext cx="3639312" cy="2084832"/>
          </a:xfrm>
          <a:prstGeom prst="roundRect">
            <a:avLst>
              <a:gd name="adj" fmla="val 4825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4471416"/>
            <a:ext cx="566928" cy="566928"/>
          </a:xfrm>
          <a:prstGeom prst="ellipse">
            <a:avLst/>
          </a:prstGeom>
          <a:solidFill>
            <a:srgbClr val="F27272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4453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025128" y="450799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블랙홀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339328" y="5248656"/>
            <a:ext cx="3090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중력 렌즈 왜곡 — 배경 백업 버퍼에서 픽셀을 끌어온다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231575" y="62910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우주 빛 / 태양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빛은 텍스처가 아니라 픽셀 버퍼 위의 수식이다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2245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DC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SpaceLightingSystem — 이중 버퍼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070A1C"/>
          </a:solidFill>
          <a:ln w="15240">
            <a:solidFill>
              <a:srgbClr val="6FC3E8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33172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C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_pBgPixels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97480" y="233172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백업 버퍼 (별 60만 개 투영)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C4"/>
                </a:solidFill>
              </a:rPr>
              <a:t>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31546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070A1C"/>
          </a:solidFill>
          <a:ln w="15240">
            <a:solidFill>
              <a:srgbClr val="9AA3C4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1546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memcpy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315468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백업 → 실제 렌더 버퍼로 복사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79476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C4"/>
                </a:solidFill>
              </a:rPr>
              <a:t>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97764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070A1C"/>
          </a:solidFill>
          <a:ln w="15240">
            <a:solidFill>
              <a:srgbClr val="FF9E3D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9776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_pPixels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397764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글로우·그림자·렌즈를 이 위에 합성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461772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C4"/>
                </a:solidFill>
              </a:rPr>
              <a:t>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480060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070A1C"/>
          </a:solidFill>
          <a:ln w="15240">
            <a:solidFill>
              <a:srgbClr val="7ED9A6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80060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D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EndRender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97480" y="480060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BitBlt → 게임 버퍼로 출력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55138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렌즈 왜곡은 '다른 좌표의 배경'을 끌어와 쓰므로, 같은 버퍼에서 읽고 쓰면 왜곡이 되먹임된다. 원본을 따로 보관해 모든 픽셀이 동일 원본을 참조하게 했다.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1600200"/>
            <a:ext cx="5486400" cy="2148840"/>
          </a:xfrm>
          <a:prstGeom prst="roundRect">
            <a:avLst>
              <a:gd name="adj" fmla="val 4681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7556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0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Glow — 프리멀티플라이 알파 캐싱 텍스처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21945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역제곱 방사 감쇠 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9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 = 1 / (1 + 8·d²)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테두리 정리 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9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(factor − 0.2) / 0.8   → 가장자리 정확히 0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RGB에 알파를 미리 곱해둔다 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9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(AC_SRC_ALPHA 요구)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72200" y="3913632"/>
            <a:ext cx="5486400" cy="2167128"/>
          </a:xfrm>
          <a:prstGeom prst="roundRect">
            <a:avLst>
              <a:gd name="adj" fmla="val 4641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0416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만들어 캐싱 → 크기 달라도 재계산 없음. 색·크기별 6종 사전 생성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19088" y="4572000"/>
            <a:ext cx="548640" cy="548640"/>
          </a:xfrm>
          <a:prstGeom prst="ellipse">
            <a:avLst/>
          </a:prstGeom>
          <a:solidFill>
            <a:srgbClr val="FF9E3D">
              <a:alpha val="8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556248" y="4709160"/>
            <a:ext cx="274320" cy="274320"/>
          </a:xfrm>
          <a:prstGeom prst="ellipse">
            <a:avLst/>
          </a:prstGeom>
          <a:solidFill>
            <a:srgbClr val="FF9E3D"/>
          </a:solidFill>
          <a:ln/>
        </p:spPr>
      </p:sp>
      <p:sp>
        <p:nvSpPr>
          <p:cNvPr id="29" name="Text 27"/>
          <p:cNvSpPr/>
          <p:nvPr/>
        </p:nvSpPr>
        <p:spPr>
          <a:xfrm>
            <a:off x="7022592" y="4553712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태양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022592" y="482803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256·주황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156448" y="4572000"/>
            <a:ext cx="548640" cy="548640"/>
          </a:xfrm>
          <a:prstGeom prst="ellipse">
            <a:avLst/>
          </a:prstGeom>
          <a:solidFill>
            <a:srgbClr val="FFC078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293608" y="4709160"/>
            <a:ext cx="274320" cy="274320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33" name="Text 31"/>
          <p:cNvSpPr/>
          <p:nvPr/>
        </p:nvSpPr>
        <p:spPr>
          <a:xfrm>
            <a:off x="8759952" y="4553712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엔진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759952" y="482803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128·주황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893808" y="4572000"/>
            <a:ext cx="548640" cy="548640"/>
          </a:xfrm>
          <a:prstGeom prst="ellipse">
            <a:avLst/>
          </a:prstGeom>
          <a:solidFill>
            <a:srgbClr val="A9DCF2">
              <a:alpha val="8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030968" y="4709160"/>
            <a:ext cx="274320" cy="274320"/>
          </a:xfrm>
          <a:prstGeom prst="ellipse">
            <a:avLst/>
          </a:prstGeom>
          <a:solidFill>
            <a:srgbClr val="A9DCF2"/>
          </a:solidFill>
          <a:ln/>
        </p:spPr>
      </p:sp>
      <p:sp>
        <p:nvSpPr>
          <p:cNvPr id="37" name="Text 35"/>
          <p:cNvSpPr/>
          <p:nvPr/>
        </p:nvSpPr>
        <p:spPr>
          <a:xfrm>
            <a:off x="10497312" y="4553712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강착원반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497312" y="482803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256·백색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19088" y="5285232"/>
            <a:ext cx="548640" cy="548640"/>
          </a:xfrm>
          <a:prstGeom prst="ellipse">
            <a:avLst/>
          </a:prstGeom>
          <a:solidFill>
            <a:srgbClr val="6FC3E8">
              <a:alpha val="8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556248" y="5422392"/>
            <a:ext cx="274320" cy="274320"/>
          </a:xfrm>
          <a:prstGeom prst="ellipse">
            <a:avLst/>
          </a:prstGeom>
          <a:solidFill>
            <a:srgbClr val="6FC3E8"/>
          </a:solidFill>
          <a:ln/>
        </p:spPr>
      </p:sp>
      <p:sp>
        <p:nvSpPr>
          <p:cNvPr id="41" name="Text 39"/>
          <p:cNvSpPr/>
          <p:nvPr/>
        </p:nvSpPr>
        <p:spPr>
          <a:xfrm>
            <a:off x="7022592" y="5266944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블랙홀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022592" y="554126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256·백색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156448" y="5285232"/>
            <a:ext cx="548640" cy="54864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293608" y="5422392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759952" y="5266944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구름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759952" y="554126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200·백색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893808" y="5285232"/>
            <a:ext cx="548640" cy="548640"/>
          </a:xfrm>
          <a:prstGeom prst="ellipse">
            <a:avLst/>
          </a:prstGeom>
          <a:solidFill>
            <a:srgbClr val="9AA3C4">
              <a:alpha val="8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030968" y="5422392"/>
            <a:ext cx="274320" cy="274320"/>
          </a:xfrm>
          <a:prstGeom prst="ellipse">
            <a:avLst/>
          </a:prstGeom>
          <a:solidFill>
            <a:srgbClr val="9AA3C4"/>
          </a:solidFill>
          <a:ln/>
        </p:spPr>
      </p:sp>
      <p:sp>
        <p:nvSpPr>
          <p:cNvPr id="49" name="Text 47"/>
          <p:cNvSpPr/>
          <p:nvPr/>
        </p:nvSpPr>
        <p:spPr>
          <a:xfrm>
            <a:off x="10497312" y="5266944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연기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0497312" y="554126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220·회색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31575" y="62910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우주선 불꽃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하나의 파티클 구조체, 화염과 연기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14800" cy="4480560"/>
          </a:xfrm>
          <a:prstGeom prst="roundRect">
            <a:avLst>
              <a:gd name="adj" fmla="val 2444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1965960"/>
            <a:ext cx="548640" cy="1234440"/>
          </a:xfrm>
          <a:prstGeom prst="roundRect">
            <a:avLst>
              <a:gd name="adj" fmla="val 41667"/>
            </a:avLst>
          </a:prstGeom>
          <a:solidFill>
            <a:srgbClr val="A9DCF2"/>
          </a:solidFill>
          <a:ln/>
        </p:spPr>
      </p:sp>
      <p:sp>
        <p:nvSpPr>
          <p:cNvPr id="6" name="Shape 4"/>
          <p:cNvSpPr/>
          <p:nvPr/>
        </p:nvSpPr>
        <p:spPr>
          <a:xfrm>
            <a:off x="2331720" y="1691640"/>
            <a:ext cx="548640" cy="365760"/>
          </a:xfrm>
          <a:prstGeom prst="triangle">
            <a:avLst/>
          </a:prstGeom>
          <a:solidFill>
            <a:srgbClr val="6FC3E8"/>
          </a:solidFill>
          <a:ln/>
        </p:spPr>
      </p:sp>
      <p:sp>
        <p:nvSpPr>
          <p:cNvPr id="7" name="Shape 5"/>
          <p:cNvSpPr/>
          <p:nvPr/>
        </p:nvSpPr>
        <p:spPr>
          <a:xfrm>
            <a:off x="2651760" y="3383280"/>
            <a:ext cx="457200" cy="457200"/>
          </a:xfrm>
          <a:prstGeom prst="ellipse">
            <a:avLst/>
          </a:prstGeom>
          <a:solidFill>
            <a:srgbClr val="FF9E3D">
              <a:alpha val="8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459736" y="3794760"/>
            <a:ext cx="658368" cy="658368"/>
          </a:xfrm>
          <a:prstGeom prst="ellipse">
            <a:avLst/>
          </a:prstGeom>
          <a:solidFill>
            <a:srgbClr val="FFC078">
              <a:alpha val="7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491740" y="4206240"/>
            <a:ext cx="868680" cy="868680"/>
          </a:xfrm>
          <a:prstGeom prst="ellipse">
            <a:avLst/>
          </a:prstGeom>
          <a:solidFill>
            <a:srgbClr val="FF9E3D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4617720"/>
            <a:ext cx="1097280" cy="1097280"/>
          </a:xfrm>
          <a:prstGeom prst="ellipse">
            <a:avLst/>
          </a:prstGeom>
          <a:solidFill>
            <a:srgbClr val="FFC078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63040" y="4937760"/>
            <a:ext cx="914400" cy="914400"/>
          </a:xfrm>
          <a:prstGeom prst="ellipse">
            <a:avLst/>
          </a:prstGeom>
          <a:solidFill>
            <a:srgbClr val="8892B0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0" y="5120640"/>
            <a:ext cx="1097280" cy="1097280"/>
          </a:xfrm>
          <a:prstGeom prst="ellipse">
            <a:avLst/>
          </a:prstGeom>
          <a:solidFill>
            <a:srgbClr val="8892B0">
              <a:alpha val="3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194560" y="5532120"/>
            <a:ext cx="1463040" cy="1463040"/>
          </a:xfrm>
          <a:prstGeom prst="ellipse">
            <a:avLst/>
          </a:prstGeom>
          <a:solidFill>
            <a:srgbClr val="8892B0">
              <a:alpha val="2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623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currentAlpha = 255 · lifeRatio²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943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제곱 감쇠 — 초반은 밝게, 후반에 급격히 사라져 자연스럽다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600200"/>
            <a:ext cx="6812280" cy="2880360"/>
          </a:xfrm>
          <a:prstGeom prst="roundRect">
            <a:avLst>
              <a:gd name="adj" fmla="val 3492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7556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DC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같은 구조체, EParticleType으로 파라미터만 분기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74920" y="2212848"/>
            <a:ext cx="1554480" cy="365760"/>
          </a:xfrm>
          <a:prstGeom prst="rect">
            <a:avLst/>
          </a:prstGeom>
          <a:solidFill>
            <a:srgbClr val="1E2652"/>
          </a:solidFill>
          <a:ln/>
        </p:spPr>
      </p:sp>
      <p:sp>
        <p:nvSpPr>
          <p:cNvPr id="19" name="Text 17"/>
          <p:cNvSpPr/>
          <p:nvPr/>
        </p:nvSpPr>
        <p:spPr>
          <a:xfrm>
            <a:off x="5148072" y="22128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29400" y="2212848"/>
            <a:ext cx="2377440" cy="365760"/>
          </a:xfrm>
          <a:prstGeom prst="rect">
            <a:avLst/>
          </a:prstGeom>
          <a:solidFill>
            <a:srgbClr val="1E2652"/>
          </a:solidFill>
          <a:ln/>
        </p:spPr>
      </p:sp>
      <p:sp>
        <p:nvSpPr>
          <p:cNvPr id="21" name="Text 19"/>
          <p:cNvSpPr/>
          <p:nvPr/>
        </p:nvSpPr>
        <p:spPr>
          <a:xfrm>
            <a:off x="6702552" y="22128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화염 (Engine)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06840" y="2212848"/>
            <a:ext cx="2377440" cy="365760"/>
          </a:xfrm>
          <a:prstGeom prst="rect">
            <a:avLst/>
          </a:prstGeom>
          <a:solidFill>
            <a:srgbClr val="1E2652"/>
          </a:solidFill>
          <a:ln/>
        </p:spPr>
      </p:sp>
      <p:sp>
        <p:nvSpPr>
          <p:cNvPr id="23" name="Text 21"/>
          <p:cNvSpPr/>
          <p:nvPr/>
        </p:nvSpPr>
        <p:spPr>
          <a:xfrm>
            <a:off x="9079992" y="22128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연기 (Smoke)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148072" y="25786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02552" y="2578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±0.25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79992" y="2578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±0.6  (2.4배)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74920" y="2944368"/>
            <a:ext cx="6355080" cy="0"/>
          </a:xfrm>
          <a:prstGeom prst="line">
            <a:avLst/>
          </a:prstGeom>
          <a:noFill/>
          <a:ln w="9525">
            <a:solidFill>
              <a:srgbClr val="2C35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8072" y="29443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02552" y="29443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~ 150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079992" y="29443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~ 70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74920" y="3310128"/>
            <a:ext cx="6355080" cy="0"/>
          </a:xfrm>
          <a:prstGeom prst="line">
            <a:avLst/>
          </a:prstGeom>
          <a:noFill/>
          <a:ln w="9525">
            <a:solidFill>
              <a:srgbClr val="2C35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48072" y="33101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반지름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02552" y="33101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~ 20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79992" y="33101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~ 30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74920" y="3675888"/>
            <a:ext cx="6355080" cy="0"/>
          </a:xfrm>
          <a:prstGeom prst="line">
            <a:avLst/>
          </a:prstGeom>
          <a:noFill/>
          <a:ln w="9525">
            <a:solidFill>
              <a:srgbClr val="2C35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48072" y="36758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수명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02552" y="36758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 ~ 0.73초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079992" y="36758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~ 2초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74920" y="4041648"/>
            <a:ext cx="6355080" cy="0"/>
          </a:xfrm>
          <a:prstGeom prst="line">
            <a:avLst/>
          </a:prstGeom>
          <a:noFill/>
          <a:ln w="9525">
            <a:solidFill>
              <a:srgbClr val="2C35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8072" y="40416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글로우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02552" y="40416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주황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079992" y="40416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회색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074920" y="4407408"/>
            <a:ext cx="6355080" cy="0"/>
          </a:xfrm>
          <a:prstGeom prst="line">
            <a:avLst/>
          </a:prstGeom>
          <a:noFill/>
          <a:ln w="9525">
            <a:solidFill>
              <a:srgbClr val="2C35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4617720"/>
            <a:ext cx="6812280" cy="1463040"/>
          </a:xfrm>
          <a:prstGeom prst="roundRect">
            <a:avLst>
              <a:gd name="adj" fmla="val 6875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0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프레임레이트 독립 감속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074920" y="5120640"/>
            <a:ext cx="3794760" cy="822960"/>
          </a:xfrm>
          <a:prstGeom prst="roundRect">
            <a:avLst>
              <a:gd name="adj" fmla="val 6667"/>
            </a:avLst>
          </a:prstGeom>
          <a:solidFill>
            <a:srgbClr val="070A1C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39512" y="5239512"/>
            <a:ext cx="348386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9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it-&gt;velocity *= powf(0.3f, deltaTime);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006840" y="512064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*= 0.3f 이면 fps에 따라 감속이 달라진다. pow(ratio, dt)는 '초당 30%'를 프레임레이트와 무관하게 보장한다.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231575" y="62910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행성 궤도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원궤도에서 케플러 궤도로 — 적분하지 않는다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480560"/>
          </a:xfrm>
          <a:prstGeom prst="roundRect">
            <a:avLst>
              <a:gd name="adj" fmla="val 2245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560320"/>
            <a:ext cx="4023360" cy="2560320"/>
          </a:xfrm>
          <a:prstGeom prst="ellipse">
            <a:avLst/>
          </a:prstGeom>
          <a:ln w="22225">
            <a:solidFill>
              <a:srgbClr val="6FC3E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301140" y="3584448"/>
            <a:ext cx="512064" cy="512064"/>
          </a:xfrm>
          <a:prstGeom prst="ellipse">
            <a:avLst/>
          </a:prstGeom>
          <a:solidFill>
            <a:srgbClr val="FF9E3D"/>
          </a:solidFill>
          <a:ln/>
        </p:spPr>
      </p:sp>
      <p:sp>
        <p:nvSpPr>
          <p:cNvPr id="7" name="Text 5"/>
          <p:cNvSpPr/>
          <p:nvPr/>
        </p:nvSpPr>
        <p:spPr>
          <a:xfrm>
            <a:off x="1282852" y="3547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☀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17720" y="3675888"/>
            <a:ext cx="310896" cy="310896"/>
          </a:xfrm>
          <a:prstGeom prst="ellipse">
            <a:avLst/>
          </a:prstGeom>
          <a:solidFill>
            <a:srgbClr val="A9DCF2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3375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근일점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17720" y="3291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원일점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4212" y="4160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초점 = 부모 천체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5257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FC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장반경  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FC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이심률(0=원)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FC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평균운동 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FC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평균근점이각(t와 선형)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1600200"/>
            <a:ext cx="5806440" cy="1691640"/>
          </a:xfrm>
          <a:prstGeom prst="roundRect">
            <a:avLst>
              <a:gd name="adj" fmla="val 5946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DC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매 프레임: 힘을 적분하지 않고 M을 전진시킨다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035040" y="2148840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070A1C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2267712"/>
            <a:ext cx="512978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A9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_meanAnomaly += _orbitSpeed * dt;      // M = M₀ + n·t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SetCenterPos(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ComputePositionAtMeanAnomaly(_meanAnomaly));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52160" y="3429000"/>
            <a:ext cx="5806440" cy="1417320"/>
          </a:xfrm>
          <a:prstGeom prst="roundRect">
            <a:avLst>
              <a:gd name="adj" fmla="val 7097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3566160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07224" y="3566160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7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수치적분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18904" y="3566160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폐형해 (채택)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9904" y="3877056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07224" y="3877056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스텝마다 누적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518904" y="3877056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없음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89904" y="4187952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역행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07224" y="4187952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불가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18904" y="4187952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 (t&lt;0 대입)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89904" y="4498848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07224" y="4498848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스텝 비례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18904" y="4498848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상수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52160" y="4983480"/>
            <a:ext cx="5806440" cy="1097280"/>
          </a:xfrm>
          <a:prstGeom prst="roundRect">
            <a:avLst>
              <a:gd name="adj" fmla="val 9167"/>
            </a:avLst>
          </a:prstGeom>
          <a:solidFill>
            <a:srgbClr val="1E2652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5102352"/>
            <a:ext cx="5440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선택 하나가 프로젝트 전체를 떠받친다.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100배속으로 몇 시간을 돌려도 궤도가 흐트러지지 않고, GetFuturePos(t)로 미래·과거 위치를 오차 없이 즉시 얻는다 — 전이 계획과 배속 보정의 전제.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231575" y="62910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케플러 방정식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 → E → ν : 위치까지 세 단계의 이각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케플러 방정식 M = E − e·sinE 은 초월방정식이라 닫힌 해가 없다 → 뉴턴-랩슨 6회 고정 반복으로 푼다.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401568" cy="2148840"/>
          </a:xfrm>
          <a:prstGeom prst="roundRect">
            <a:avLst>
              <a:gd name="adj" fmla="val 4681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40280"/>
            <a:ext cx="822960" cy="822960"/>
          </a:xfrm>
          <a:prstGeom prst="ellipse">
            <a:avLst/>
          </a:prstGeom>
          <a:solidFill>
            <a:srgbClr val="6FC3E8">
              <a:alpha val="8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128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C3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783080" y="2331720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평균근점이각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28529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시간과 선형. 물리적 위치는 아니다.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04488" y="265176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78"/>
                </a:solidFill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206240" y="2011680"/>
            <a:ext cx="3401568" cy="2148840"/>
          </a:xfrm>
          <a:prstGeom prst="roundRect">
            <a:avLst>
              <a:gd name="adj" fmla="val 4681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62272" y="2240280"/>
            <a:ext cx="822960" cy="822960"/>
          </a:xfrm>
          <a:prstGeom prst="ellipse">
            <a:avLst/>
          </a:prstGeom>
          <a:solidFill>
            <a:srgbClr val="FF9E3D">
              <a:alpha val="8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22128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40680" y="2331720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편심근점이각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3246120"/>
            <a:ext cx="28529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외접원 위의 각도. 케플러 방정식으로 획득.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562088" y="265176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78"/>
                </a:solidFill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863840" y="2011680"/>
            <a:ext cx="3401568" cy="2148840"/>
          </a:xfrm>
          <a:prstGeom prst="roundRect">
            <a:avLst>
              <a:gd name="adj" fmla="val 4681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9872" y="2240280"/>
            <a:ext cx="822960" cy="822960"/>
          </a:xfrm>
          <a:prstGeom prst="ellipse">
            <a:avLst/>
          </a:prstGeom>
          <a:solidFill>
            <a:srgbClr val="7ED9A6">
              <a:alpha val="8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119872" y="22128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ED9A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ν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098280" y="2331720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진근점이각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38160" y="3246120"/>
            <a:ext cx="28529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초점에서 실제로 바라본 각도.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93008" y="42245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C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케플러 방정식 · 뉴턴법 6회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01968" y="4224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D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ν = 2·atan2(√(1+e)·sin(E/2), √(1−e)·cos(E/2))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6812280" cy="1508760"/>
          </a:xfrm>
          <a:prstGeom prst="roundRect">
            <a:avLst>
              <a:gd name="adj" fmla="val 6667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6817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DC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뉴턴-랩슨 솔버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5029200"/>
            <a:ext cx="6446520" cy="914400"/>
          </a:xfrm>
          <a:prstGeom prst="roundRect">
            <a:avLst>
              <a:gd name="adj" fmla="val 6000"/>
            </a:avLst>
          </a:prstGeom>
          <a:solidFill>
            <a:srgbClr val="070A1C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5148072"/>
            <a:ext cx="613562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E = M;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6; i++)   // 수렴 판정 없이 6회 고정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A9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 -= (E - e*sinf(E) - M) / (1 - e*cosf(E));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43800" y="4572000"/>
            <a:ext cx="4114800" cy="1508760"/>
          </a:xfrm>
          <a:prstGeom prst="roundRect">
            <a:avLst>
              <a:gd name="adj" fmla="val 6667"/>
            </a:avLst>
          </a:prstGeom>
          <a:solidFill>
            <a:srgbClr val="1E2652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4681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0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왜 6회 고정인가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26680" y="5010912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 없는 고정 루프가 캐시·분기예측에 유리하다. 게임 내 최대 이심률(수성 0.206)에서 6회면 float 정밀도 한계까지 수렴 — "수렴할 때까지"보다 "확실히 충분한 횟수".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231575" y="62910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SOI 판정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영향권(SOI)과 히스테리시스로 중력원 전환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2245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DC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라플라스 근사 — 영향권 반지름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070A1C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r_SOI = a · ( μ_planet / μ_parent )^(2/5)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886200"/>
            <a:ext cx="548640" cy="548640"/>
          </a:xfrm>
          <a:prstGeom prst="ellipse">
            <a:avLst/>
          </a:prstGeom>
          <a:solidFill>
            <a:srgbClr val="FF9E3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4531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태양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3017520"/>
            <a:ext cx="2286000" cy="2286000"/>
          </a:xfrm>
          <a:prstGeom prst="ellipse">
            <a:avLst/>
          </a:prstGeom>
          <a:solidFill>
            <a:srgbClr val="6FC3E8">
              <a:alpha val="12000"/>
            </a:srgbClr>
          </a:solidFill>
          <a:ln w="15875">
            <a:solidFill>
              <a:srgbClr val="6FC3E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160520" y="3977640"/>
            <a:ext cx="365760" cy="365760"/>
          </a:xfrm>
          <a:prstGeom prst="ellipse">
            <a:avLst/>
          </a:prstGeom>
          <a:solidFill>
            <a:srgbClr val="A9DCF2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43616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3108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5440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안에서는 태양보다 이 행성의 중력이 지배적" — 표준 근사식을 그대로 사용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600200"/>
            <a:ext cx="5440680" cy="2514600"/>
          </a:xfrm>
          <a:prstGeom prst="roundRect">
            <a:avLst>
              <a:gd name="adj" fmla="val 4000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7556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0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히스테리시스 — 경계 진동 제거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46520" y="2194560"/>
            <a:ext cx="4983480" cy="658368"/>
          </a:xfrm>
          <a:prstGeom prst="roundRect">
            <a:avLst>
              <a:gd name="adj" fmla="val 8333"/>
            </a:avLst>
          </a:prstGeom>
          <a:solidFill>
            <a:srgbClr val="070A1C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2313432"/>
            <a:ext cx="46725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9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effSOI = (planet==current) ? soi*1.05f : soi;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2971800"/>
            <a:ext cx="4983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진입 기준 100% · 이탈 기준 105%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타겟에만 5% 여유를 주면 SOI 경계에서 타겟이 매 프레임 진동하며 속도가 튀는 문제가 사라진다. 슈미트 트리거와 같은 원리.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251960"/>
            <a:ext cx="5440680" cy="1828800"/>
          </a:xfrm>
          <a:prstGeom prst="roundRect">
            <a:avLst>
              <a:gd name="adj" fmla="val 5500"/>
            </a:avLst>
          </a:prstGeom>
          <a:solidFill>
            <a:srgbClr val="1E2652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389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D9A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스윕 캡처 판정 — 터널링 방지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47731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고배속에서는 한 프레임에 SOI 지름보다 멀리 이동해 점 샘플링이 SOI를 통과해버린다. 프레임 이동 선분 위 최근접점을 검사해 실제 지나온 구간을 놓치지 않는다.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55961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D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clamp( (C−P₀)·(P₁−P₀) / |P₁−P₀|² , 0, 1 )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231575" y="62910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호만 전이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호만 전이 — 이상적 타이밍의 기준선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80560"/>
          </a:xfrm>
          <a:prstGeom prst="roundRect">
            <a:avLst>
              <a:gd name="adj" fmla="val 2245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0280" y="2880360"/>
            <a:ext cx="1828800" cy="1828800"/>
          </a:xfrm>
          <a:prstGeom prst="ellipse">
            <a:avLst/>
          </a:prstGeom>
          <a:ln w="15875">
            <a:solidFill>
              <a:srgbClr val="6FC3E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874520"/>
            <a:ext cx="3840480" cy="3840480"/>
          </a:xfrm>
          <a:prstGeom prst="ellipse">
            <a:avLst/>
          </a:prstGeom>
          <a:ln w="15875">
            <a:solidFill>
              <a:srgbClr val="4A5490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377440"/>
            <a:ext cx="2834640" cy="2834640"/>
          </a:xfrm>
          <a:prstGeom prst="ellipse">
            <a:avLst/>
          </a:prstGeom>
          <a:ln w="25400">
            <a:solidFill>
              <a:srgbClr val="FF9E3D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953512" y="3593592"/>
            <a:ext cx="402336" cy="402336"/>
          </a:xfrm>
          <a:prstGeom prst="ellipse">
            <a:avLst/>
          </a:prstGeom>
          <a:solidFill>
            <a:srgbClr val="FF9E3D"/>
          </a:solidFill>
          <a:ln/>
        </p:spPr>
      </p:sp>
      <p:sp>
        <p:nvSpPr>
          <p:cNvPr id="9" name="Shape 7"/>
          <p:cNvSpPr/>
          <p:nvPr/>
        </p:nvSpPr>
        <p:spPr>
          <a:xfrm>
            <a:off x="3950208" y="3675888"/>
            <a:ext cx="237744" cy="237744"/>
          </a:xfrm>
          <a:prstGeom prst="ellipse">
            <a:avLst/>
          </a:prstGeom>
          <a:solidFill>
            <a:srgbClr val="A9DCF2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3502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15568" y="3675888"/>
            <a:ext cx="274320" cy="274320"/>
          </a:xfrm>
          <a:prstGeom prst="ellipse">
            <a:avLst/>
          </a:prstGeom>
          <a:solidFill>
            <a:srgbClr val="7ED9A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15819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C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 타원 (반 바퀴)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0" y="4480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출발 궤도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5394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도착 궤도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600200"/>
            <a:ext cx="5715000" cy="2103120"/>
          </a:xfrm>
          <a:prstGeom prst="roundRect">
            <a:avLst>
              <a:gd name="adj" fmla="val 4783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DC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소요시간 · 이상적 선행각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2200" y="2176272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070A1C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176272"/>
            <a:ext cx="5257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a_t = (r₁+r₂)/2      t_H = π·√(a_t³/μ)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2852928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070A1C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852928"/>
            <a:ext cx="5257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D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θ_ideal = π − n_target · t_H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0" y="3840480"/>
            <a:ext cx="5715000" cy="2240280"/>
          </a:xfrm>
          <a:prstGeom prst="roundRect">
            <a:avLst>
              <a:gd name="adj" fmla="val 4490"/>
            </a:avLst>
          </a:prstGeom>
          <a:solidFill>
            <a:srgbClr val="1E2652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3977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0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교과서 호만 vs 실제 상황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72200" y="4389120"/>
            <a:ext cx="5303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이상적 호만전이는 두 궤도의 위상이 딱 맞을 때만 성립한다.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27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 플레이어는 아무 때나 버튼을 누른다.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호만 TOF는 정답이 아니라 탐색 범위의 기준선으로만 쓰고, 실제 해는 람베르트로 푼다.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231575" y="62910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람베르트 문제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람베르트 — 임의 시점에서 최소 연료 전이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위치·속도에서 출발해 어느 시점에 목표가 있을 자리로 도착하려면 출발 속도를 얼마로? 그 시점은 언제가 최선?"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577840" cy="4114800"/>
          </a:xfrm>
          <a:prstGeom prst="roundRect">
            <a:avLst>
              <a:gd name="adj" fmla="val 2444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DC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Universal Variable 솔버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560320"/>
            <a:ext cx="4937760" cy="713232"/>
          </a:xfrm>
          <a:prstGeom prst="roundRect">
            <a:avLst>
              <a:gd name="adj" fmla="val 8974"/>
            </a:avLst>
          </a:prstGeom>
          <a:solidFill>
            <a:srgbClr val="070A1C"/>
          </a:solidFill>
          <a:ln w="14605">
            <a:solidFill>
              <a:srgbClr val="6FC3E8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2724912"/>
            <a:ext cx="384048" cy="384048"/>
          </a:xfrm>
          <a:prstGeom prst="ellipse">
            <a:avLst/>
          </a:prstGeom>
          <a:solidFill>
            <a:srgbClr val="6FC3E8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706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81328" y="263347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전이각 Δν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481328" y="294436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C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acos + 외적 부호로 0~2π 보정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3236976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C4"/>
                </a:solidFill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8680" y="3429000"/>
            <a:ext cx="4937760" cy="713232"/>
          </a:xfrm>
          <a:prstGeom prst="roundRect">
            <a:avLst>
              <a:gd name="adj" fmla="val 8974"/>
            </a:avLst>
          </a:prstGeom>
          <a:solidFill>
            <a:srgbClr val="070A1C"/>
          </a:solidFill>
          <a:ln w="14605">
            <a:solidFill>
              <a:srgbClr val="FF9E3D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" y="3593592"/>
            <a:ext cx="384048" cy="384048"/>
          </a:xfrm>
          <a:prstGeom prst="ellipse">
            <a:avLst/>
          </a:prstGeom>
          <a:solidFill>
            <a:srgbClr val="FF9E3D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3575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81328" y="350215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이분법 100회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481328" y="381304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t(z)가 단조증가 → 항상 수렴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68680" y="4105656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C4"/>
                </a:solidFill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" y="4297680"/>
            <a:ext cx="4937760" cy="713232"/>
          </a:xfrm>
          <a:prstGeom prst="roundRect">
            <a:avLst>
              <a:gd name="adj" fmla="val 8974"/>
            </a:avLst>
          </a:prstGeom>
          <a:solidFill>
            <a:srgbClr val="070A1C"/>
          </a:solidFill>
          <a:ln w="14605">
            <a:solidFill>
              <a:srgbClr val="FFC078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462272"/>
            <a:ext cx="384048" cy="384048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44439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81328" y="437083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Stumpff C(z),S(z)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481328" y="468172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C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부호가 궤도 종류를 결정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68680" y="4974336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C4"/>
                </a:solidFill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68680" y="5166360"/>
            <a:ext cx="4937760" cy="713232"/>
          </a:xfrm>
          <a:prstGeom prst="roundRect">
            <a:avLst>
              <a:gd name="adj" fmla="val 8974"/>
            </a:avLst>
          </a:prstGeom>
          <a:solidFill>
            <a:srgbClr val="070A1C"/>
          </a:solidFill>
          <a:ln w="14605">
            <a:solidFill>
              <a:srgbClr val="7ED9A6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7552" y="5330952"/>
            <a:ext cx="384048" cy="384048"/>
          </a:xfrm>
          <a:prstGeom prst="ellipse">
            <a:avLst/>
          </a:prstGeom>
          <a:solidFill>
            <a:srgbClr val="7ED9A6"/>
          </a:solidFill>
          <a:ln/>
        </p:spPr>
      </p:sp>
      <p:sp>
        <p:nvSpPr>
          <p:cNvPr id="27" name="Text 25"/>
          <p:cNvSpPr/>
          <p:nvPr/>
        </p:nvSpPr>
        <p:spPr>
          <a:xfrm>
            <a:off x="987552" y="5312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81328" y="523951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라그랑주 f,g,ġ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481328" y="555040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D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v1=(r₂−f·r₁)/g,  v2=(ġ·r₂−r₁)/g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1965960"/>
            <a:ext cx="5349240" cy="1874520"/>
          </a:xfrm>
          <a:prstGeom prst="roundRect">
            <a:avLst>
              <a:gd name="adj" fmla="val 5366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0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Stumpff 함수 — 궤도 종류 통합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537960" y="25146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6FC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&gt; 0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타원     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6FC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&lt; 0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쌍곡선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6FC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≈ 0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포물선 — 0/0 파탄을 테일러 극한(½, ⅙)으로 치환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09360" y="3977640"/>
            <a:ext cx="5349240" cy="2103120"/>
          </a:xfrm>
          <a:prstGeom prst="roundRect">
            <a:avLst>
              <a:gd name="adj" fmla="val 4783"/>
            </a:avLst>
          </a:prstGeom>
          <a:solidFill>
            <a:srgbClr val="1E2652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D9A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설계 판단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37960" y="448056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뉴턴법이 아니라 이분법 —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수렴 속도보다 수렴 보장을 우선.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기준 dv1 + dv2 —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빨리 가는 해가 아니라 연료 효율 최적해. 실제 미션 설계와 같은 기준.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20 → fine 80 2단 스캔 —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균등 533샘플을 100개로. GetFuturePos 폐형해가 미래 위치를 즉시 준다.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231575" y="62910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7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블랙홀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블랙홀 — 배경을 끌어오는 중력 렌즈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937760" cy="4480560"/>
          </a:xfrm>
          <a:prstGeom prst="roundRect">
            <a:avLst>
              <a:gd name="adj" fmla="val 2245"/>
            </a:avLst>
          </a:prstGeom>
          <a:solidFill>
            <a:srgbClr val="0D1024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286000"/>
            <a:ext cx="3108960" cy="3108960"/>
          </a:xfrm>
          <a:prstGeom prst="ellipse">
            <a:avLst/>
          </a:prstGeom>
          <a:solidFill>
            <a:srgbClr val="2A2050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2651760"/>
            <a:ext cx="2377440" cy="2377440"/>
          </a:xfrm>
          <a:prstGeom prst="ellipse">
            <a:avLst/>
          </a:prstGeom>
          <a:solidFill>
            <a:srgbClr val="3A2A55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48840" y="2971800"/>
            <a:ext cx="1737360" cy="1737360"/>
          </a:xfrm>
          <a:prstGeom prst="ellipse">
            <a:avLst/>
          </a:prstGeom>
          <a:solidFill>
            <a:srgbClr val="FF9E3D">
              <a:alpha val="5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400300" y="3223260"/>
            <a:ext cx="1234440" cy="1234440"/>
          </a:xfrm>
          <a:prstGeom prst="ellipse">
            <a:avLst/>
          </a:prstGeom>
          <a:solidFill>
            <a:srgbClr val="FFC078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514600" y="3337560"/>
            <a:ext cx="1005840" cy="100584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F9E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0460" y="3817620"/>
            <a:ext cx="45720" cy="45720"/>
          </a:xfrm>
          <a:prstGeom prst="ellipse">
            <a:avLst/>
          </a:prstGeom>
          <a:solidFill>
            <a:srgbClr val="A9DCF2"/>
          </a:solidFill>
          <a:ln/>
        </p:spPr>
      </p:sp>
      <p:sp>
        <p:nvSpPr>
          <p:cNvPr id="11" name="Shape 9"/>
          <p:cNvSpPr/>
          <p:nvPr/>
        </p:nvSpPr>
        <p:spPr>
          <a:xfrm>
            <a:off x="3702828" y="4241960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320651" y="4664958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626965" y="4868017"/>
            <a:ext cx="45720" cy="45720"/>
          </a:xfrm>
          <a:prstGeom prst="ellipse">
            <a:avLst/>
          </a:prstGeom>
          <a:solidFill>
            <a:srgbClr val="A9DCF2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9838" y="4162041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081027" y="3821537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083526" y="3311977"/>
            <a:ext cx="45720" cy="45720"/>
          </a:xfrm>
          <a:prstGeom prst="ellipse">
            <a:avLst/>
          </a:prstGeom>
          <a:solidFill>
            <a:srgbClr val="A9DCF2"/>
          </a:solidFill>
          <a:ln/>
        </p:spPr>
      </p:sp>
      <p:sp>
        <p:nvSpPr>
          <p:cNvPr id="17" name="Shape 15"/>
          <p:cNvSpPr/>
          <p:nvPr/>
        </p:nvSpPr>
        <p:spPr>
          <a:xfrm>
            <a:off x="2511841" y="2783108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135310" y="3225037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671227" y="3330095"/>
            <a:ext cx="45720" cy="45720"/>
          </a:xfrm>
          <a:prstGeom prst="ellipse">
            <a:avLst/>
          </a:prstGeom>
          <a:solidFill>
            <a:srgbClr val="A9DCF2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5317" y="3727053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075181" y="4350637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270528" y="4351308"/>
            <a:ext cx="45720" cy="45720"/>
          </a:xfrm>
          <a:prstGeom prst="ellipse">
            <a:avLst/>
          </a:prstGeom>
          <a:solidFill>
            <a:srgbClr val="A9DCF2"/>
          </a:solidFill>
          <a:ln/>
        </p:spPr>
      </p:sp>
      <p:sp>
        <p:nvSpPr>
          <p:cNvPr id="23" name="Shape 21"/>
          <p:cNvSpPr/>
          <p:nvPr/>
        </p:nvSpPr>
        <p:spPr>
          <a:xfrm>
            <a:off x="2799502" y="4541884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19456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사건지평선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5532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effectRadius = bhRadius × 3.5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8521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 = (bhRadius/dist)^1.5 · distortionStr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1600200"/>
            <a:ext cx="5897880" cy="4480560"/>
          </a:xfrm>
          <a:prstGeom prst="roundRect">
            <a:avLst>
              <a:gd name="adj" fmla="val 2245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DC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3단(+코어) 렌더 순서 — 순서가 곧 정답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989320" y="2286000"/>
            <a:ext cx="5440680" cy="786384"/>
          </a:xfrm>
          <a:prstGeom prst="roundRect">
            <a:avLst>
              <a:gd name="adj" fmla="val 8140"/>
            </a:avLst>
          </a:prstGeom>
          <a:solidFill>
            <a:srgbClr val="070A1C"/>
          </a:solidFill>
          <a:ln w="14605">
            <a:solidFill>
              <a:srgbClr val="6FC3E8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286000"/>
            <a:ext cx="502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C3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①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675120" y="2377440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왜곡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675120" y="2706624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바깥 픽셀을 끌어와 _pBgPixels 백업에서 샘플링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89320" y="3182112"/>
            <a:ext cx="5440680" cy="786384"/>
          </a:xfrm>
          <a:prstGeom prst="roundRect">
            <a:avLst>
              <a:gd name="adj" fmla="val 8140"/>
            </a:avLst>
          </a:prstGeom>
          <a:solidFill>
            <a:srgbClr val="070A1C"/>
          </a:solidFill>
          <a:ln w="14605">
            <a:solidFill>
              <a:srgbClr val="FFC078">
                <a:alpha val="6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3182112"/>
            <a:ext cx="502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0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②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675120" y="3273552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강착원반 글로우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675120" y="360273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캐싱된 백색 글로우 합성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89320" y="4078224"/>
            <a:ext cx="5440680" cy="786384"/>
          </a:xfrm>
          <a:prstGeom prst="roundRect">
            <a:avLst>
              <a:gd name="adj" fmla="val 8140"/>
            </a:avLst>
          </a:prstGeom>
          <a:solidFill>
            <a:srgbClr val="070A1C"/>
          </a:solidFill>
          <a:ln w="14605">
            <a:solidFill>
              <a:srgbClr val="FF9E3D">
                <a:alpha val="6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4078224"/>
            <a:ext cx="502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③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675120" y="4169664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빨려드는 별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675120" y="4498848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t⁴ 편향 분포 · ω ∝ 1/r 로 안쪽일수록 빠르게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89320" y="4974336"/>
            <a:ext cx="5440680" cy="786384"/>
          </a:xfrm>
          <a:prstGeom prst="roundRect">
            <a:avLst>
              <a:gd name="adj" fmla="val 8140"/>
            </a:avLst>
          </a:prstGeom>
          <a:solidFill>
            <a:srgbClr val="070A1C"/>
          </a:solidFill>
          <a:ln w="14605">
            <a:solidFill>
              <a:srgbClr val="F27272">
                <a:alpha val="6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4974336"/>
            <a:ext cx="502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72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④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675120" y="5065776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검은 코어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675120" y="5394960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맨 마지막에 이벤트 호라이즌을 다시 뚫는다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89320" y="5852160"/>
            <a:ext cx="5440680" cy="0"/>
          </a:xfrm>
          <a:prstGeom prst="roundRect">
            <a:avLst/>
          </a:prstGeom>
          <a:ln/>
        </p:spPr>
      </p:sp>
      <p:sp>
        <p:nvSpPr>
          <p:cNvPr id="46" name="Text 44"/>
          <p:cNvSpPr/>
          <p:nvPr/>
        </p:nvSpPr>
        <p:spPr>
          <a:xfrm>
            <a:off x="11231575" y="62910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14324" y="849548"/>
            <a:ext cx="38640" cy="38640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3" name="Shape 1"/>
          <p:cNvSpPr/>
          <p:nvPr/>
        </p:nvSpPr>
        <p:spPr>
          <a:xfrm>
            <a:off x="9060622" y="3616149"/>
            <a:ext cx="48503" cy="48503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4" name="Shape 2"/>
          <p:cNvSpPr/>
          <p:nvPr/>
        </p:nvSpPr>
        <p:spPr>
          <a:xfrm>
            <a:off x="4684615" y="597194"/>
            <a:ext cx="40606" cy="40606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5" name="Shape 3"/>
          <p:cNvSpPr/>
          <p:nvPr/>
        </p:nvSpPr>
        <p:spPr>
          <a:xfrm>
            <a:off x="11246013" y="5170017"/>
            <a:ext cx="32106" cy="32106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6" name="Shape 4"/>
          <p:cNvSpPr/>
          <p:nvPr/>
        </p:nvSpPr>
        <p:spPr>
          <a:xfrm>
            <a:off x="10532531" y="3025951"/>
            <a:ext cx="34744" cy="34744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7" name="Shape 5"/>
          <p:cNvSpPr/>
          <p:nvPr/>
        </p:nvSpPr>
        <p:spPr>
          <a:xfrm>
            <a:off x="4199832" y="1700330"/>
            <a:ext cx="50779" cy="50779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8" name="Shape 6"/>
          <p:cNvSpPr/>
          <p:nvPr/>
        </p:nvSpPr>
        <p:spPr>
          <a:xfrm>
            <a:off x="4289096" y="2378487"/>
            <a:ext cx="20153" cy="20153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9" name="Shape 7"/>
          <p:cNvSpPr/>
          <p:nvPr/>
        </p:nvSpPr>
        <p:spPr>
          <a:xfrm>
            <a:off x="7488998" y="3705754"/>
            <a:ext cx="48078" cy="48078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10" name="Shape 8"/>
          <p:cNvSpPr/>
          <p:nvPr/>
        </p:nvSpPr>
        <p:spPr>
          <a:xfrm>
            <a:off x="1908872" y="3311466"/>
            <a:ext cx="35213" cy="35213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11" name="Shape 9"/>
          <p:cNvSpPr/>
          <p:nvPr/>
        </p:nvSpPr>
        <p:spPr>
          <a:xfrm>
            <a:off x="6363064" y="3904956"/>
            <a:ext cx="27165" cy="27165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12" name="Shape 10"/>
          <p:cNvSpPr/>
          <p:nvPr/>
        </p:nvSpPr>
        <p:spPr>
          <a:xfrm>
            <a:off x="8057818" y="3369557"/>
            <a:ext cx="39738" cy="39738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13" name="Shape 11"/>
          <p:cNvSpPr/>
          <p:nvPr/>
        </p:nvSpPr>
        <p:spPr>
          <a:xfrm>
            <a:off x="5939532" y="3144602"/>
            <a:ext cx="18293" cy="18293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2323" y="605425"/>
            <a:ext cx="40950" cy="40950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15" name="Shape 13"/>
          <p:cNvSpPr/>
          <p:nvPr/>
        </p:nvSpPr>
        <p:spPr>
          <a:xfrm>
            <a:off x="8175094" y="6589360"/>
            <a:ext cx="34106" cy="34106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16" name="Shape 14"/>
          <p:cNvSpPr/>
          <p:nvPr/>
        </p:nvSpPr>
        <p:spPr>
          <a:xfrm>
            <a:off x="36218" y="5771738"/>
            <a:ext cx="24402" cy="24402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17" name="Shape 15"/>
          <p:cNvSpPr/>
          <p:nvPr/>
        </p:nvSpPr>
        <p:spPr>
          <a:xfrm>
            <a:off x="9156367" y="3909895"/>
            <a:ext cx="49317" cy="49317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18" name="Shape 16"/>
          <p:cNvSpPr/>
          <p:nvPr/>
        </p:nvSpPr>
        <p:spPr>
          <a:xfrm>
            <a:off x="3776927" y="4221163"/>
            <a:ext cx="18992" cy="18992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18422" y="2048875"/>
            <a:ext cx="41349" cy="41349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20" name="Shape 18"/>
          <p:cNvSpPr/>
          <p:nvPr/>
        </p:nvSpPr>
        <p:spPr>
          <a:xfrm>
            <a:off x="1747905" y="4674364"/>
            <a:ext cx="40074" cy="40074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21" name="Shape 19"/>
          <p:cNvSpPr/>
          <p:nvPr/>
        </p:nvSpPr>
        <p:spPr>
          <a:xfrm>
            <a:off x="2991115" y="836965"/>
            <a:ext cx="18780" cy="18780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22" name="Shape 20"/>
          <p:cNvSpPr/>
          <p:nvPr/>
        </p:nvSpPr>
        <p:spPr>
          <a:xfrm>
            <a:off x="3130550" y="3406011"/>
            <a:ext cx="20365" cy="20365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98125" y="612834"/>
            <a:ext cx="37603" cy="37603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24" name="Shape 22"/>
          <p:cNvSpPr/>
          <p:nvPr/>
        </p:nvSpPr>
        <p:spPr>
          <a:xfrm>
            <a:off x="1753758" y="1008768"/>
            <a:ext cx="21276" cy="21276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25" name="Shape 23"/>
          <p:cNvSpPr/>
          <p:nvPr/>
        </p:nvSpPr>
        <p:spPr>
          <a:xfrm>
            <a:off x="4000400" y="699147"/>
            <a:ext cx="22410" cy="22410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26" name="Shape 24"/>
          <p:cNvSpPr/>
          <p:nvPr/>
        </p:nvSpPr>
        <p:spPr>
          <a:xfrm>
            <a:off x="9959739" y="3155303"/>
            <a:ext cx="29714" cy="29714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27" name="Shape 25"/>
          <p:cNvSpPr/>
          <p:nvPr/>
        </p:nvSpPr>
        <p:spPr>
          <a:xfrm>
            <a:off x="8192654" y="2450571"/>
            <a:ext cx="50866" cy="50866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28" name="Shape 26"/>
          <p:cNvSpPr/>
          <p:nvPr/>
        </p:nvSpPr>
        <p:spPr>
          <a:xfrm>
            <a:off x="3064073" y="5358283"/>
            <a:ext cx="35292" cy="35292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29" name="Shape 27"/>
          <p:cNvSpPr/>
          <p:nvPr/>
        </p:nvSpPr>
        <p:spPr>
          <a:xfrm>
            <a:off x="5260543" y="3157773"/>
            <a:ext cx="40791" cy="40791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30" name="Shape 28"/>
          <p:cNvSpPr/>
          <p:nvPr/>
        </p:nvSpPr>
        <p:spPr>
          <a:xfrm>
            <a:off x="6052209" y="2876374"/>
            <a:ext cx="22206" cy="22206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31" name="Shape 29"/>
          <p:cNvSpPr/>
          <p:nvPr/>
        </p:nvSpPr>
        <p:spPr>
          <a:xfrm>
            <a:off x="8449365" y="1381419"/>
            <a:ext cx="46820" cy="46820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32" name="Shape 30"/>
          <p:cNvSpPr/>
          <p:nvPr/>
        </p:nvSpPr>
        <p:spPr>
          <a:xfrm>
            <a:off x="5528334" y="5192242"/>
            <a:ext cx="22064" cy="22064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33" name="Shape 31"/>
          <p:cNvSpPr/>
          <p:nvPr/>
        </p:nvSpPr>
        <p:spPr>
          <a:xfrm>
            <a:off x="3460219" y="176"/>
            <a:ext cx="32831" cy="32831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34" name="Shape 32"/>
          <p:cNvSpPr/>
          <p:nvPr/>
        </p:nvSpPr>
        <p:spPr>
          <a:xfrm>
            <a:off x="3900684" y="198555"/>
            <a:ext cx="44801" cy="44801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35" name="Shape 33"/>
          <p:cNvSpPr/>
          <p:nvPr/>
        </p:nvSpPr>
        <p:spPr>
          <a:xfrm>
            <a:off x="6699213" y="114712"/>
            <a:ext cx="34495" cy="34495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36" name="Shape 34"/>
          <p:cNvSpPr/>
          <p:nvPr/>
        </p:nvSpPr>
        <p:spPr>
          <a:xfrm>
            <a:off x="8544482" y="5251979"/>
            <a:ext cx="33973" cy="33973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37" name="Shape 35"/>
          <p:cNvSpPr/>
          <p:nvPr/>
        </p:nvSpPr>
        <p:spPr>
          <a:xfrm>
            <a:off x="9737521" y="6381691"/>
            <a:ext cx="53620" cy="53620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38" name="Shape 36"/>
          <p:cNvSpPr/>
          <p:nvPr/>
        </p:nvSpPr>
        <p:spPr>
          <a:xfrm>
            <a:off x="4709283" y="6213181"/>
            <a:ext cx="29315" cy="29315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39" name="Shape 37"/>
          <p:cNvSpPr/>
          <p:nvPr/>
        </p:nvSpPr>
        <p:spPr>
          <a:xfrm>
            <a:off x="5049404" y="2629782"/>
            <a:ext cx="50016" cy="50016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40" name="Shape 38"/>
          <p:cNvSpPr/>
          <p:nvPr/>
        </p:nvSpPr>
        <p:spPr>
          <a:xfrm>
            <a:off x="9704282" y="3928827"/>
            <a:ext cx="24508" cy="24508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41" name="Shape 39"/>
          <p:cNvSpPr/>
          <p:nvPr/>
        </p:nvSpPr>
        <p:spPr>
          <a:xfrm>
            <a:off x="7686339" y="627650"/>
            <a:ext cx="30909" cy="30909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42" name="Shape 40"/>
          <p:cNvSpPr/>
          <p:nvPr/>
        </p:nvSpPr>
        <p:spPr>
          <a:xfrm>
            <a:off x="1102782" y="3563585"/>
            <a:ext cx="32193" cy="32193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43" name="Shape 41"/>
          <p:cNvSpPr/>
          <p:nvPr/>
        </p:nvSpPr>
        <p:spPr>
          <a:xfrm>
            <a:off x="11928765" y="4269963"/>
            <a:ext cx="18425" cy="18425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44" name="Shape 42"/>
          <p:cNvSpPr/>
          <p:nvPr/>
        </p:nvSpPr>
        <p:spPr>
          <a:xfrm>
            <a:off x="11566484" y="1646120"/>
            <a:ext cx="27084" cy="27084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45" name="Shape 43"/>
          <p:cNvSpPr/>
          <p:nvPr/>
        </p:nvSpPr>
        <p:spPr>
          <a:xfrm>
            <a:off x="4832412" y="5767388"/>
            <a:ext cx="41463" cy="41463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46" name="Shape 44"/>
          <p:cNvSpPr/>
          <p:nvPr/>
        </p:nvSpPr>
        <p:spPr>
          <a:xfrm>
            <a:off x="155375" y="5119100"/>
            <a:ext cx="23179" cy="23179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47" name="Shape 45"/>
          <p:cNvSpPr/>
          <p:nvPr/>
        </p:nvSpPr>
        <p:spPr>
          <a:xfrm>
            <a:off x="94124" y="124589"/>
            <a:ext cx="42224" cy="42224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48" name="Shape 46"/>
          <p:cNvSpPr/>
          <p:nvPr/>
        </p:nvSpPr>
        <p:spPr>
          <a:xfrm>
            <a:off x="12174396" y="97190"/>
            <a:ext cx="29058" cy="29058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49" name="Shape 47"/>
          <p:cNvSpPr/>
          <p:nvPr/>
        </p:nvSpPr>
        <p:spPr>
          <a:xfrm>
            <a:off x="6895300" y="4190236"/>
            <a:ext cx="26579" cy="26579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50" name="Shape 48"/>
          <p:cNvSpPr/>
          <p:nvPr/>
        </p:nvSpPr>
        <p:spPr>
          <a:xfrm>
            <a:off x="5780446" y="635059"/>
            <a:ext cx="27562" cy="27562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51" name="Shape 49"/>
          <p:cNvSpPr/>
          <p:nvPr/>
        </p:nvSpPr>
        <p:spPr>
          <a:xfrm>
            <a:off x="6873141" y="4840993"/>
            <a:ext cx="19363" cy="19363"/>
          </a:xfrm>
          <a:prstGeom prst="ellipse">
            <a:avLst/>
          </a:prstGeom>
          <a:solidFill>
            <a:srgbClr val="333C70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관통하는 원칙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30352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반복되는 하나의 아이디어</a:t>
            </a:r>
            <a:endParaRPr lang="en-US" sz="3400" dirty="0"/>
          </a:p>
        </p:txBody>
      </p:sp>
      <p:sp>
        <p:nvSpPr>
          <p:cNvPr id="54" name="Shape 52"/>
          <p:cNvSpPr/>
          <p:nvPr/>
        </p:nvSpPr>
        <p:spPr>
          <a:xfrm>
            <a:off x="548640" y="1874520"/>
            <a:ext cx="5394960" cy="1783080"/>
          </a:xfrm>
          <a:prstGeom prst="roundRect">
            <a:avLst>
              <a:gd name="adj" fmla="val 5641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4672" y="2148840"/>
            <a:ext cx="146304" cy="146304"/>
          </a:xfrm>
          <a:prstGeom prst="ellipse">
            <a:avLst/>
          </a:prstGeom>
          <a:solidFill>
            <a:srgbClr val="6FC3E8"/>
          </a:solidFill>
          <a:ln/>
        </p:spPr>
      </p:sp>
      <p:sp>
        <p:nvSpPr>
          <p:cNvPr id="56" name="Text 54"/>
          <p:cNvSpPr/>
          <p:nvPr/>
        </p:nvSpPr>
        <p:spPr>
          <a:xfrm>
            <a:off x="1097280" y="20756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C3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폐형해 우선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841248" y="265176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적분 대신 M+n·t 대입 — 미래·과거 위치를 오차 없이 즉시. 전이·배속·예측이 전부 여기 기댄다.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172200" y="1874520"/>
            <a:ext cx="5394960" cy="1783080"/>
          </a:xfrm>
          <a:prstGeom prst="roundRect">
            <a:avLst>
              <a:gd name="adj" fmla="val 5641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28232" y="2148840"/>
            <a:ext cx="146304" cy="146304"/>
          </a:xfrm>
          <a:prstGeom prst="ellipse">
            <a:avLst/>
          </a:prstGeom>
          <a:solidFill>
            <a:srgbClr val="7ED9A6"/>
          </a:solidFill>
          <a:ln/>
        </p:spPr>
      </p:sp>
      <p:sp>
        <p:nvSpPr>
          <p:cNvPr id="60" name="Text 58"/>
          <p:cNvSpPr/>
          <p:nvPr/>
        </p:nvSpPr>
        <p:spPr>
          <a:xfrm>
            <a:off x="6720840" y="20756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D9A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움직이는 기준계 → 정지계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6464808" y="265176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orbitCenterBody 재귀 누적, 람베르트 프레임 시프트 — 둘 다 갈릴레이 변환의 대칭.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548640" y="3840480"/>
            <a:ext cx="5394960" cy="1783080"/>
          </a:xfrm>
          <a:prstGeom prst="roundRect">
            <a:avLst>
              <a:gd name="adj" fmla="val 5641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4672" y="4114800"/>
            <a:ext cx="146304" cy="146304"/>
          </a:xfrm>
          <a:prstGeom prst="ellipse">
            <a:avLst/>
          </a:prstGeom>
          <a:solidFill>
            <a:srgbClr val="FF9E3D"/>
          </a:solidFill>
          <a:ln/>
        </p:spPr>
      </p:sp>
      <p:sp>
        <p:nvSpPr>
          <p:cNvPr id="64" name="Text 62"/>
          <p:cNvSpPr/>
          <p:nvPr/>
        </p:nvSpPr>
        <p:spPr>
          <a:xfrm>
            <a:off x="1097280" y="40416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원본을 따로 보관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841248" y="461772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렌즈·그림자는 배경 백업 버퍼에서 샘플링 — 되먹임 왜곡을 구조로 차단.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6172200" y="3840480"/>
            <a:ext cx="5394960" cy="1783080"/>
          </a:xfrm>
          <a:prstGeom prst="roundRect">
            <a:avLst>
              <a:gd name="adj" fmla="val 5641"/>
            </a:avLst>
          </a:prstGeom>
          <a:solidFill>
            <a:srgbClr val="161C3F"/>
          </a:solidFill>
          <a:ln w="12700">
            <a:solidFill>
              <a:srgbClr val="2C356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28232" y="4114800"/>
            <a:ext cx="146304" cy="146304"/>
          </a:xfrm>
          <a:prstGeom prst="ellipse">
            <a:avLst/>
          </a:prstGeom>
          <a:solidFill>
            <a:srgbClr val="FFC078"/>
          </a:solidFill>
          <a:ln/>
        </p:spPr>
      </p:sp>
      <p:sp>
        <p:nvSpPr>
          <p:cNvPr id="68" name="Text 66"/>
          <p:cNvSpPr/>
          <p:nvPr/>
        </p:nvSpPr>
        <p:spPr>
          <a:xfrm>
            <a:off x="6720840" y="40416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0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프레임레이트 독립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6464808" y="461772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exp(−k·dt), pow(r,dt), 고정 240Hz 서브스텝 — dt가 어떻든 같은 실시간에 같은 결과.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FirstOrbit · 아키텍처 &amp; 물리 엔진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1231575" y="62910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2026-08-20T00:10:27Z</dcterms:created>
  <dcterms:modified xsi:type="dcterms:W3CDTF">2026-08-20T00:10:27Z</dcterms:modified>
</cp:coreProperties>
</file>